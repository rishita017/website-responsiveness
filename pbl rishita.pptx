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28" r:id="rId1"/>
  </p:sldMasterIdLst>
  <p:notesMasterIdLst>
    <p:notesMasterId r:id="rId12"/>
  </p:notes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Garamond" panose="02020404030301010803" pitchFamily="18" charset="0"/>
      <p:regular r:id="rId17"/>
      <p:bold r:id="rId18"/>
      <p:italic r:id="rId19"/>
    </p:embeddedFont>
    <p:embeddedFont>
      <p:font typeface="Overpass Light" panose="020B0604020202020204" charset="0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ita Jain" userId="311f253d81c03e19" providerId="LiveId" clId="{C01AD690-A522-42AD-9996-3DD59D22D84E}"/>
    <pc:docChg chg="modSld">
      <pc:chgData name="Rishita Jain" userId="311f253d81c03e19" providerId="LiveId" clId="{C01AD690-A522-42AD-9996-3DD59D22D84E}" dt="2026-02-19T09:18:48.236" v="21" actId="20577"/>
      <pc:docMkLst>
        <pc:docMk/>
      </pc:docMkLst>
      <pc:sldChg chg="modSp mod">
        <pc:chgData name="Rishita Jain" userId="311f253d81c03e19" providerId="LiveId" clId="{C01AD690-A522-42AD-9996-3DD59D22D84E}" dt="2026-02-19T09:18:48.236" v="21" actId="20577"/>
        <pc:sldMkLst>
          <pc:docMk/>
          <pc:sldMk cId="0" sldId="263"/>
        </pc:sldMkLst>
        <pc:spChg chg="mod">
          <ac:chgData name="Rishita Jain" userId="311f253d81c03e19" providerId="LiveId" clId="{C01AD690-A522-42AD-9996-3DD59D22D84E}" dt="2026-02-19T09:18:39.137" v="7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Rishita Jain" userId="311f253d81c03e19" providerId="LiveId" clId="{C01AD690-A522-42AD-9996-3DD59D22D84E}" dt="2026-02-19T09:18:42.986" v="14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Rishita Jain" userId="311f253d81c03e19" providerId="LiveId" clId="{C01AD690-A522-42AD-9996-3DD59D22D84E}" dt="2026-02-19T09:18:48.236" v="21" actId="20577"/>
          <ac:spMkLst>
            <pc:docMk/>
            <pc:sldMk cId="0" sldId="263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805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0321" y="0"/>
            <a:ext cx="14677392" cy="8227457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0878" y="2245358"/>
            <a:ext cx="8178803" cy="1818640"/>
          </a:xfrm>
        </p:spPr>
        <p:txBody>
          <a:bodyPr anchor="b">
            <a:noAutofit/>
          </a:bodyPr>
          <a:lstStyle>
            <a:lvl1pPr algn="ctr">
              <a:defRPr sz="648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0878" y="4389117"/>
            <a:ext cx="8178803" cy="1584962"/>
          </a:xfrm>
        </p:spPr>
        <p:txBody>
          <a:bodyPr anchor="t">
            <a:normAutofit/>
          </a:bodyPr>
          <a:lstStyle>
            <a:lvl1pPr marL="0" indent="0" algn="ctr">
              <a:buNone/>
              <a:defRPr sz="2520">
                <a:solidFill>
                  <a:schemeClr val="tx1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579879" y="6045196"/>
            <a:ext cx="1076960" cy="33528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30877" y="6045196"/>
            <a:ext cx="6257562" cy="335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48281" y="6045196"/>
            <a:ext cx="661400" cy="33528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3230879" y="4226557"/>
            <a:ext cx="81788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0038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8167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8083" y="2103127"/>
            <a:ext cx="9790426" cy="2187017"/>
          </a:xfrm>
        </p:spPr>
        <p:txBody>
          <a:bodyPr anchor="b">
            <a:normAutofit/>
          </a:bodyPr>
          <a:lstStyle>
            <a:lvl1pPr algn="ctr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8080" y="4615262"/>
            <a:ext cx="9790428" cy="1145456"/>
          </a:xfrm>
        </p:spPr>
        <p:txBody>
          <a:bodyPr anchor="t">
            <a:normAutofit/>
          </a:bodyPr>
          <a:lstStyle>
            <a:lvl1pPr marL="0" indent="0" algn="ctr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415268" y="4452702"/>
            <a:ext cx="979605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1909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58138" y="3072384"/>
            <a:ext cx="5661965" cy="397215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17613" y="3072384"/>
            <a:ext cx="5661965" cy="397215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98355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3190240"/>
            <a:ext cx="5661965" cy="691514"/>
          </a:xfrm>
        </p:spPr>
        <p:txBody>
          <a:bodyPr anchor="b">
            <a:noAutofit/>
          </a:bodyPr>
          <a:lstStyle>
            <a:lvl1pPr marL="0" indent="0">
              <a:spcBef>
                <a:spcPts val="806"/>
              </a:spcBef>
              <a:spcAft>
                <a:spcPts val="720"/>
              </a:spcAft>
              <a:buNone/>
              <a:defRPr sz="336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54480" y="3891915"/>
            <a:ext cx="5661965" cy="315912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16804" y="3190240"/>
            <a:ext cx="5661965" cy="691514"/>
          </a:xfrm>
        </p:spPr>
        <p:txBody>
          <a:bodyPr anchor="b">
            <a:noAutofit/>
          </a:bodyPr>
          <a:lstStyle>
            <a:lvl1pPr marL="0" indent="0">
              <a:spcBef>
                <a:spcPts val="806"/>
              </a:spcBef>
              <a:spcAft>
                <a:spcPts val="720"/>
              </a:spcAft>
              <a:buNone/>
              <a:defRPr sz="336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16804" y="3891915"/>
            <a:ext cx="5661965" cy="315912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983967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91855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4485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2574" y="1666241"/>
            <a:ext cx="4462146" cy="1645920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2402" y="1178558"/>
            <a:ext cx="6563359" cy="587248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2574" y="3637278"/>
            <a:ext cx="4462146" cy="2926085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675403" y="3495040"/>
            <a:ext cx="42173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0673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79" y="2260598"/>
            <a:ext cx="7490179" cy="1645920"/>
          </a:xfrm>
        </p:spPr>
        <p:txBody>
          <a:bodyPr anchor="b">
            <a:normAutofit/>
          </a:bodyPr>
          <a:lstStyle>
            <a:lvl1pPr algn="ctr">
              <a:defRPr sz="33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3798" y="1249680"/>
            <a:ext cx="3676016" cy="573024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79" y="3906518"/>
            <a:ext cx="7490179" cy="2194560"/>
          </a:xfrm>
        </p:spPr>
        <p:txBody>
          <a:bodyPr anchor="t">
            <a:normAutofit/>
          </a:bodyPr>
          <a:lstStyle>
            <a:lvl1pPr marL="0" indent="0" algn="ctr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8401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1" y="5778498"/>
            <a:ext cx="11531599" cy="680086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49713" y="1249679"/>
            <a:ext cx="12127166" cy="4003043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81" y="6458584"/>
            <a:ext cx="11531599" cy="592454"/>
          </a:xfrm>
        </p:spPr>
        <p:txBody>
          <a:bodyPr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78776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642" y="1178558"/>
            <a:ext cx="11511278" cy="3545842"/>
          </a:xfrm>
        </p:spPr>
        <p:txBody>
          <a:bodyPr anchor="ctr">
            <a:normAutofit/>
          </a:bodyPr>
          <a:lstStyle>
            <a:lvl1pPr algn="ctr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4642" y="5212080"/>
            <a:ext cx="11511278" cy="18389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675403" y="496823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84583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1178558"/>
            <a:ext cx="11155678" cy="2844802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09775" y="4023360"/>
            <a:ext cx="10607042" cy="70104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400"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212080"/>
            <a:ext cx="11531599" cy="18389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34416" y="105595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20320" y="339344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675403" y="496823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44329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2" y="3970297"/>
            <a:ext cx="11531602" cy="1762560"/>
          </a:xfrm>
        </p:spPr>
        <p:txBody>
          <a:bodyPr anchor="b">
            <a:normAutofit/>
          </a:bodyPr>
          <a:lstStyle>
            <a:lvl1pPr algn="l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732857"/>
            <a:ext cx="11531602" cy="103248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13516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1178558"/>
            <a:ext cx="11155678" cy="2692402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554481" y="4367174"/>
            <a:ext cx="11531602" cy="1064362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435600"/>
            <a:ext cx="11531602" cy="161544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34416" y="105595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20320" y="311911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675403" y="4114800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63304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1" y="1178558"/>
            <a:ext cx="11531599" cy="269240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554481" y="4356201"/>
            <a:ext cx="11531602" cy="100949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3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5364480"/>
            <a:ext cx="11531604" cy="168656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675403" y="4114800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27183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729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99228" y="1178558"/>
            <a:ext cx="2269074" cy="58724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54478" y="1178558"/>
            <a:ext cx="8919630" cy="587248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636668" y="1188720"/>
            <a:ext cx="0" cy="585216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78294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55856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2010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6434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08744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2266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41505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11065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11632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2444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8883" y="0"/>
            <a:ext cx="14675954" cy="8227457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4483" y="1178559"/>
            <a:ext cx="11521435" cy="156464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3068319"/>
            <a:ext cx="11521435" cy="39827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13001" y="7162800"/>
            <a:ext cx="1920240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54481" y="7162800"/>
            <a:ext cx="8767080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24682" y="7162800"/>
            <a:ext cx="651236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85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  <p:sldLayoutId id="2147483846" r:id="rId18"/>
    <p:sldLayoutId id="2147483847" r:id="rId19"/>
    <p:sldLayoutId id="2147483848" r:id="rId20"/>
    <p:sldLayoutId id="2147483849" r:id="rId21"/>
    <p:sldLayoutId id="2147483850" r:id="rId22"/>
    <p:sldLayoutId id="2147483851" r:id="rId23"/>
    <p:sldLayoutId id="2147483852" r:id="rId24"/>
    <p:sldLayoutId id="2147483853" r:id="rId25"/>
    <p:sldLayoutId id="2147483854" r:id="rId26"/>
  </p:sldLayoutIdLst>
  <p:hf sldNum="0" hdr="0" ftr="0" dt="0"/>
  <p:txStyles>
    <p:titleStyle>
      <a:lvl1pPr algn="ctr" defTabSz="548640" rtl="0" eaLnBrk="1" latinLnBrk="0" hangingPunct="1">
        <a:spcBef>
          <a:spcPct val="0"/>
        </a:spcBef>
        <a:buNone/>
        <a:defRPr sz="528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8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44018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16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85166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92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40030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listapart.com/article/responsive-web-design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4" Type="http://schemas.openxmlformats.org/officeDocument/2006/relationships/hyperlink" Target="https://www.w3.org/TR/mediaqueries-5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C90089-3625-ACBC-26B9-83132EC02BDE}"/>
              </a:ext>
            </a:extLst>
          </p:cNvPr>
          <p:cNvSpPr txBox="1"/>
          <p:nvPr/>
        </p:nvSpPr>
        <p:spPr>
          <a:xfrm>
            <a:off x="2566555" y="1958667"/>
            <a:ext cx="9694718" cy="1493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3200" b="1" dirty="0"/>
              <a:t>Department of Computer Science and Engineering</a:t>
            </a:r>
          </a:p>
        </p:txBody>
      </p:sp>
      <p:pic>
        <p:nvPicPr>
          <p:cNvPr id="4" name="Picture 3" descr="A black and white text&#10;&#10;AI-generated content may be incorrect.">
            <a:extLst>
              <a:ext uri="{FF2B5EF4-FFF2-40B4-BE49-F238E27FC236}">
                <a16:creationId xmlns:a16="http://schemas.microsoft.com/office/drawing/2014/main" id="{F1EDB1CE-8D1F-809C-4670-C08C2F5DB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56" y="721839"/>
            <a:ext cx="4174039" cy="12227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7FF02F-30D6-0289-C0C8-65C36834CADC}"/>
              </a:ext>
            </a:extLst>
          </p:cNvPr>
          <p:cNvSpPr txBox="1"/>
          <p:nvPr/>
        </p:nvSpPr>
        <p:spPr>
          <a:xfrm>
            <a:off x="1475509" y="3930134"/>
            <a:ext cx="1135726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1" u="sng" dirty="0"/>
              <a:t>Enhancing Website Responsiveness Across Multiple Devices</a:t>
            </a:r>
            <a:endParaRPr lang="en-IN" sz="4400" b="1" i="1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606FD0-3205-4694-8E01-BA645B33B96D}"/>
              </a:ext>
            </a:extLst>
          </p:cNvPr>
          <p:cNvSpPr txBox="1"/>
          <p:nvPr/>
        </p:nvSpPr>
        <p:spPr>
          <a:xfrm>
            <a:off x="914400" y="6307432"/>
            <a:ext cx="7315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Submitted By:  </a:t>
            </a:r>
          </a:p>
          <a:p>
            <a:r>
              <a:rPr lang="en-IN" sz="2400" dirty="0"/>
              <a:t>Rishita Jain</a:t>
            </a:r>
          </a:p>
          <a:p>
            <a:r>
              <a:rPr lang="en-IN" sz="2400" dirty="0"/>
              <a:t>2427030255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346774-2873-B424-125E-AED5F2BE4E28}"/>
              </a:ext>
            </a:extLst>
          </p:cNvPr>
          <p:cNvSpPr txBox="1"/>
          <p:nvPr/>
        </p:nvSpPr>
        <p:spPr>
          <a:xfrm>
            <a:off x="10692246" y="6333684"/>
            <a:ext cx="34500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Supervised By:</a:t>
            </a:r>
            <a:br>
              <a:rPr lang="en-IN" sz="2400" dirty="0"/>
            </a:br>
            <a:r>
              <a:rPr lang="en-IN" sz="2400" dirty="0" err="1"/>
              <a:t>Dr.</a:t>
            </a:r>
            <a:r>
              <a:rPr lang="en-IN" sz="2400" dirty="0"/>
              <a:t> Ashish Kumar</a:t>
            </a:r>
          </a:p>
        </p:txBody>
      </p:sp>
    </p:spTree>
    <p:extLst>
      <p:ext uri="{BB962C8B-B14F-4D97-AF65-F5344CB8AC3E}">
        <p14:creationId xmlns:p14="http://schemas.microsoft.com/office/powerpoint/2010/main" val="2198572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162" y="670441"/>
            <a:ext cx="12756713" cy="643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Responsive Web Design: A Proposed Solution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162" y="1396722"/>
            <a:ext cx="6014442" cy="522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Introduction 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21162" y="2228374"/>
            <a:ext cx="13188077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In today’s digital world, people access websites through a wide variety of devices — from desktop computers and laptops to tablets and smartphones. Each device has a different screen size, resolution, and orientation.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162" y="3119438"/>
            <a:ext cx="13188077" cy="32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When a website is not designed to adapt to these variations, users may face several issues such as: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1162" y="3680817"/>
            <a:ext cx="13188077" cy="32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Improperly aligned content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1162" y="4082534"/>
            <a:ext cx="13188077" cy="32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Overlapping text and images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1162" y="4484251"/>
            <a:ext cx="13188077" cy="32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Difficulty in navigation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1162" y="4885968"/>
            <a:ext cx="13188077" cy="32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Slow loading and zooming problems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1162" y="5447348"/>
            <a:ext cx="13188077" cy="32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This leads to </a:t>
            </a:r>
            <a:r>
              <a:rPr lang="en-US" sz="16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poor user experience</a:t>
            </a: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and </a:t>
            </a:r>
            <a:r>
              <a:rPr lang="en-US" sz="16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high bounce rates</a:t>
            </a: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1162" y="6008727"/>
            <a:ext cx="13188077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Responsive Web Design (RWD) is the modern approach to overcome these challenges. It ensures that a website automatically adjusts its layout, images, and text to fit any screen size without losing functionality or readability.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1162" y="6899791"/>
            <a:ext cx="13188077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 responsive website not only improves </a:t>
            </a:r>
            <a:r>
              <a:rPr lang="en-US" sz="16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usability</a:t>
            </a: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but also helps in </a:t>
            </a:r>
            <a:r>
              <a:rPr lang="en-US" sz="16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SEO ranking</a:t>
            </a: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, as search engines like Google prefer mobile-friendly designs. Hence, making websites responsive has become an essential part of modern web development.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3819" y="750630"/>
            <a:ext cx="4777859" cy="49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📚</a:t>
            </a:r>
            <a:r>
              <a:rPr lang="en-US" sz="30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 Literature Review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81157" y="1519357"/>
            <a:ext cx="13268087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Researchers and web developers have recognized the importance of responsiveness since the early 2010s.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1157" y="2049780"/>
            <a:ext cx="4292918" cy="2405777"/>
          </a:xfrm>
          <a:prstGeom prst="roundRect">
            <a:avLst>
              <a:gd name="adj" fmla="val 4561"/>
            </a:avLst>
          </a:prstGeom>
          <a:solidFill>
            <a:srgbClr val="FFFDE6"/>
          </a:solidFill>
          <a:ln w="2286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58297" y="2049780"/>
            <a:ext cx="91440" cy="2405777"/>
          </a:xfrm>
          <a:prstGeom prst="roundRect">
            <a:avLst>
              <a:gd name="adj" fmla="val 89404"/>
            </a:avLst>
          </a:prstGeom>
          <a:solidFill>
            <a:srgbClr val="2244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67145" y="2267188"/>
            <a:ext cx="2944297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Ethan Marcotte (2010)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7145" y="2688074"/>
            <a:ext cx="3789521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introduced the concept of </a:t>
            </a:r>
            <a:r>
              <a:rPr lang="en-US" sz="1500" i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Responsive Web Design (RWD)</a:t>
            </a:r>
            <a:r>
              <a:rPr lang="en-US" sz="15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, emphasizing the use of </a:t>
            </a:r>
            <a:r>
              <a:rPr lang="en-US" sz="1500" i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flexible grids, flexible images, and media queries</a:t>
            </a:r>
            <a:r>
              <a:rPr lang="en-US" sz="15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to create adaptive layouts.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68622" y="2049780"/>
            <a:ext cx="4293037" cy="2405777"/>
          </a:xfrm>
          <a:prstGeom prst="roundRect">
            <a:avLst>
              <a:gd name="adj" fmla="val 4561"/>
            </a:avLst>
          </a:prstGeom>
          <a:solidFill>
            <a:srgbClr val="FFFDE6"/>
          </a:solidFill>
          <a:ln w="2286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145762" y="2049780"/>
            <a:ext cx="91440" cy="2405777"/>
          </a:xfrm>
          <a:prstGeom prst="roundRect">
            <a:avLst>
              <a:gd name="adj" fmla="val 89404"/>
            </a:avLst>
          </a:prstGeom>
          <a:solidFill>
            <a:srgbClr val="2244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54610" y="2267188"/>
            <a:ext cx="3789640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Google’s Mobile-First Indexing (2018)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54610" y="2992279"/>
            <a:ext cx="3789640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highlighted that mobile versions of websites would be prioritized in search rankings, further encouraging developers to focus on responsive design.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56207" y="2049780"/>
            <a:ext cx="4293037" cy="2405777"/>
          </a:xfrm>
          <a:prstGeom prst="roundRect">
            <a:avLst>
              <a:gd name="adj" fmla="val 4561"/>
            </a:avLst>
          </a:prstGeom>
          <a:solidFill>
            <a:srgbClr val="FFFDE6"/>
          </a:solidFill>
          <a:ln w="2286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633347" y="2049780"/>
            <a:ext cx="91440" cy="2405777"/>
          </a:xfrm>
          <a:prstGeom prst="roundRect">
            <a:avLst>
              <a:gd name="adj" fmla="val 89404"/>
            </a:avLst>
          </a:prstGeom>
          <a:solidFill>
            <a:srgbClr val="2244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942195" y="2267188"/>
            <a:ext cx="3789640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W3C and Nielsen Norman Group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942195" y="2992279"/>
            <a:ext cx="3789640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Studies from </a:t>
            </a:r>
            <a:r>
              <a:rPr lang="en-US" sz="15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W3C and Nielsen Norman Group</a:t>
            </a:r>
            <a:r>
              <a:rPr lang="en-US" sz="15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found that users are more likely to stay longer and interact more with responsive websites.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1157" y="4650105"/>
            <a:ext cx="4292918" cy="2413040"/>
          </a:xfrm>
          <a:prstGeom prst="roundRect">
            <a:avLst>
              <a:gd name="adj" fmla="val 4547"/>
            </a:avLst>
          </a:prstGeom>
          <a:solidFill>
            <a:srgbClr val="FFFDE6"/>
          </a:solidFill>
          <a:ln w="2286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58297" y="4650105"/>
            <a:ext cx="91440" cy="2413040"/>
          </a:xfrm>
          <a:prstGeom prst="roundRect">
            <a:avLst>
              <a:gd name="adj" fmla="val 89404"/>
            </a:avLst>
          </a:prstGeom>
          <a:solidFill>
            <a:srgbClr val="2244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67145" y="4867513"/>
            <a:ext cx="2433042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Frameworks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67145" y="5288399"/>
            <a:ext cx="3789521" cy="1557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Frameworks such as </a:t>
            </a:r>
            <a:r>
              <a:rPr lang="en-US" sz="15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Bootstrap</a:t>
            </a:r>
            <a:r>
              <a:rPr lang="en-US" sz="15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, </a:t>
            </a:r>
            <a:r>
              <a:rPr lang="en-US" sz="15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Tailwind CSS</a:t>
            </a:r>
            <a:r>
              <a:rPr lang="en-US" sz="15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, and </a:t>
            </a:r>
            <a:r>
              <a:rPr lang="en-US" sz="15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Foundation</a:t>
            </a:r>
            <a:r>
              <a:rPr lang="en-US" sz="15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have simplified the process of building responsive layouts with pre-built grid systems and media breakpoints.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168622" y="4650105"/>
            <a:ext cx="4293037" cy="2413040"/>
          </a:xfrm>
          <a:prstGeom prst="roundRect">
            <a:avLst>
              <a:gd name="adj" fmla="val 4547"/>
            </a:avLst>
          </a:prstGeom>
          <a:solidFill>
            <a:srgbClr val="FFFDE6"/>
          </a:solidFill>
          <a:ln w="2286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145762" y="4650105"/>
            <a:ext cx="91440" cy="2413040"/>
          </a:xfrm>
          <a:prstGeom prst="roundRect">
            <a:avLst>
              <a:gd name="adj" fmla="val 89404"/>
            </a:avLst>
          </a:prstGeom>
          <a:solidFill>
            <a:srgbClr val="2244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54610" y="4867513"/>
            <a:ext cx="2903934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Modern CSS Features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454610" y="5288399"/>
            <a:ext cx="3789640" cy="934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Modern CSS features like </a:t>
            </a:r>
            <a:r>
              <a:rPr lang="en-US" sz="15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Flexbox</a:t>
            </a:r>
            <a:r>
              <a:rPr lang="en-US" sz="15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and </a:t>
            </a:r>
            <a:r>
              <a:rPr lang="en-US" sz="15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Grid Layout</a:t>
            </a:r>
            <a:r>
              <a:rPr lang="en-US" sz="15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provide more control to developers in creating fluid and adaptive designs.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157" y="7282101"/>
            <a:ext cx="13268087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In summary, previous work and studies clearly show that responsive web design enhances user satisfaction, accessibility, and overall website performance.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03789" y="2751058"/>
            <a:ext cx="407658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Problem Statement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1133951" y="3771662"/>
            <a:ext cx="721625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The existing website does not adjust properly across different screen sizes and devices. This causes poor readability, distorted layouts, and bad user experience for mobile users. As a result, the website loses potential visitors and reduces overall usability.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516511"/>
            <a:ext cx="30480" cy="1961912"/>
          </a:xfrm>
          <a:prstGeom prst="rect">
            <a:avLst/>
          </a:prstGeom>
          <a:solidFill>
            <a:srgbClr val="22443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65598" y="841337"/>
            <a:ext cx="3923467" cy="439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Proposed Solution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814030" y="1307327"/>
            <a:ext cx="13399532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To resolve the issue of the website not being responsive across devices and screen sizes, the following multi-step approach is 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proposed</a:t>
            </a: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15434" y="2017514"/>
            <a:ext cx="6611898" cy="5732621"/>
          </a:xfrm>
          <a:prstGeom prst="roundRect">
            <a:avLst>
              <a:gd name="adj" fmla="val 1914"/>
            </a:avLst>
          </a:prstGeom>
          <a:solidFill>
            <a:srgbClr val="FFF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15434" y="1994654"/>
            <a:ext cx="6611898" cy="91440"/>
          </a:xfrm>
          <a:prstGeom prst="roundRect">
            <a:avLst>
              <a:gd name="adj" fmla="val 80767"/>
            </a:avLst>
          </a:prstGeom>
          <a:solidFill>
            <a:srgbClr val="2244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0" y="1753791"/>
            <a:ext cx="527447" cy="527447"/>
          </a:xfrm>
          <a:prstGeom prst="roundRect">
            <a:avLst>
              <a:gd name="adj" fmla="val 173363"/>
            </a:avLst>
          </a:prstGeom>
          <a:solidFill>
            <a:srgbClr val="22443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34" y="1885593"/>
            <a:ext cx="210979" cy="2637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4030" y="2457093"/>
            <a:ext cx="621470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1. Implement Responsive Web Design (RWD) Principles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14030" y="3111937"/>
            <a:ext cx="6214705" cy="844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Responsive Web Design ensures that a website’s layout automatically adapts to the user’s screen. It uses </a:t>
            </a:r>
            <a:r>
              <a:rPr lang="en-US" sz="13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flexible layouts, images, and CSS media queries</a:t>
            </a: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to achieve consistency across all devices.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14030" y="4061460"/>
            <a:ext cx="6214705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Key actions: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14030" y="4448294"/>
            <a:ext cx="6214705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Use </a:t>
            </a:r>
            <a:r>
              <a:rPr lang="en-US" sz="13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percentage-based widths</a:t>
            </a: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instead of fixed pixels so layouts can stretch or shrink naturally.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14030" y="5072420"/>
            <a:ext cx="6214705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Apply </a:t>
            </a:r>
            <a:r>
              <a:rPr lang="en-US" sz="13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CSS media queries</a:t>
            </a: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(e.g., @media (max-width: 768px)) to change design for mobile, tablet, and desktop.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14030" y="5696545"/>
            <a:ext cx="6214705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Use </a:t>
            </a:r>
            <a:r>
              <a:rPr lang="en-US" sz="13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relative units</a:t>
            </a: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like em, rem, and vw/vh for scalable typography and elements.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14030" y="6320671"/>
            <a:ext cx="6214705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Make buttons, text, and menus easily clickable and readable on touch screens.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14030" y="6988850"/>
            <a:ext cx="6214705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Outcome:</a:t>
            </a: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The website layout dynamically adjusts to fit any device without requiring separate mobile versions.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403068" y="2017514"/>
            <a:ext cx="6611898" cy="5732621"/>
          </a:xfrm>
          <a:prstGeom prst="roundRect">
            <a:avLst>
              <a:gd name="adj" fmla="val 1914"/>
            </a:avLst>
          </a:prstGeom>
          <a:solidFill>
            <a:srgbClr val="FFF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7403068" y="1994654"/>
            <a:ext cx="6611898" cy="91440"/>
          </a:xfrm>
          <a:prstGeom prst="roundRect">
            <a:avLst>
              <a:gd name="adj" fmla="val 80767"/>
            </a:avLst>
          </a:prstGeom>
          <a:solidFill>
            <a:srgbClr val="2244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10445234" y="1753791"/>
            <a:ext cx="527447" cy="527447"/>
          </a:xfrm>
          <a:prstGeom prst="roundRect">
            <a:avLst>
              <a:gd name="adj" fmla="val 173363"/>
            </a:avLst>
          </a:prstGeom>
          <a:solidFill>
            <a:srgbClr val="22443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3468" y="1885593"/>
            <a:ext cx="210979" cy="26372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601664" y="2457093"/>
            <a:ext cx="50030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2. Use Responsive Front-End Frameworks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7601664" y="2837259"/>
            <a:ext cx="6214705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Modern frameworks simplify responsive design and speed up development.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7601664" y="3224093"/>
            <a:ext cx="6214705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Recommended frameworks: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7601664" y="3610928"/>
            <a:ext cx="6214705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Bootstrap:</a:t>
            </a: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Provides a 12-column grid system, predefined responsive classes (col-md-6, col-sm-12, etc.), and mobile-first components.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7601664" y="4235053"/>
            <a:ext cx="6214705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Tailwind CSS:</a:t>
            </a: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Offers utility-first classes like md:w-1/2 or sm:text-center that make it easy to design responsive layouts directly in HTML.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7601664" y="4859179"/>
            <a:ext cx="6214705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Foundation or Bulma:</a:t>
            </a: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Alternatives that also support fluid grids and mobile-first components.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7601664" y="5527357"/>
            <a:ext cx="6214705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Outcome:</a:t>
            </a: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Faster development with consistent, responsive layouts that maintain uniformity across pages.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52" y="701159"/>
            <a:ext cx="4446032" cy="7384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699" y="1624132"/>
            <a:ext cx="4076938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3. Adopt a Mobile-First Approach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30699" y="2311598"/>
            <a:ext cx="4076938" cy="1181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Traditionally, websites were designed for desktops first and then adjusted for smaller screens. In modern web development, this process is reversed.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30699" y="3603903"/>
            <a:ext cx="4076938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Key steps: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30699" y="4010025"/>
            <a:ext cx="4076938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Design for </a:t>
            </a:r>
            <a:r>
              <a:rPr lang="en-US" sz="14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small screens first</a:t>
            </a: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(mobile layout).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30699" y="4369951"/>
            <a:ext cx="4076938" cy="590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Gradually add enhancements for </a:t>
            </a:r>
            <a:r>
              <a:rPr lang="en-US" sz="14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larger screens</a:t>
            </a: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using media queries.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30699" y="5025271"/>
            <a:ext cx="4076938" cy="590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Prioritize essential features (navigation, content, and readability) before visual extras.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30699" y="5726787"/>
            <a:ext cx="4076938" cy="886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Outcome:</a:t>
            </a: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Ensures smooth performance on mobile devices, which now make up the majority of web traffic.</a:t>
            </a:r>
            <a:endParaRPr lang="en-US" sz="14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184" y="701159"/>
            <a:ext cx="4446032" cy="7384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76731" y="1624132"/>
            <a:ext cx="385976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4. Optimize Images and Media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276731" y="2023229"/>
            <a:ext cx="4076938" cy="590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Images often cause responsiveness and speed issues if not optimized properly.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276731" y="2724745"/>
            <a:ext cx="4076938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Solutions: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276731" y="3130868"/>
            <a:ext cx="4076938" cy="931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Use </a:t>
            </a:r>
            <a:r>
              <a:rPr lang="en-US" sz="14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responsive image tags</a:t>
            </a: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(</a:t>
            </a:r>
            <a:r>
              <a:rPr lang="en-US" sz="1450" dirty="0">
                <a:solidFill>
                  <a:srgbClr val="3B4E4E"/>
                </a:solidFill>
                <a:highlight>
                  <a:srgbClr val="F2F0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&lt;picture&gt;</a:t>
            </a: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and </a:t>
            </a:r>
            <a:r>
              <a:rPr lang="en-US" sz="1450" dirty="0">
                <a:solidFill>
                  <a:srgbClr val="3B4E4E"/>
                </a:solidFill>
                <a:highlight>
                  <a:srgbClr val="F2F0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srcset</a:t>
            </a: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) to load suitable image sizes for different devices.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276731" y="4127302"/>
            <a:ext cx="4076938" cy="590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Compress images using tools like </a:t>
            </a:r>
            <a:r>
              <a:rPr lang="en-US" sz="14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TinyPNG</a:t>
            </a: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or </a:t>
            </a:r>
            <a:r>
              <a:rPr lang="en-US" sz="14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ImageOptim</a:t>
            </a: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without losing quality.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5276731" y="4782622"/>
            <a:ext cx="4076938" cy="909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Implement </a:t>
            </a:r>
            <a:r>
              <a:rPr lang="en-US" sz="14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lazy loading</a:t>
            </a: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(</a:t>
            </a:r>
            <a:r>
              <a:rPr lang="en-US" sz="1450" dirty="0">
                <a:solidFill>
                  <a:srgbClr val="3B4E4E"/>
                </a:solidFill>
                <a:highlight>
                  <a:srgbClr val="F2F0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loading="lazy"</a:t>
            </a: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) to delay off-screen image loading, improving page speed.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5276731" y="5756196"/>
            <a:ext cx="4076938" cy="590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Use </a:t>
            </a:r>
            <a:r>
              <a:rPr lang="en-US" sz="14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SVG</a:t>
            </a: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graphics when possible—they scale perfectly on any screen.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5276731" y="6457712"/>
            <a:ext cx="4076938" cy="886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Outcome:</a:t>
            </a: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Faster loading time, reduced data usage, and improved responsiveness on all devices.</a:t>
            </a:r>
            <a:endParaRPr lang="en-US" sz="14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8216" y="701159"/>
            <a:ext cx="4446032" cy="73842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722763" y="1624132"/>
            <a:ext cx="4076938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5. Ensure Cross-Browser and Cross-Device Testing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9722763" y="2311598"/>
            <a:ext cx="4076938" cy="590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 responsive website should work properly on all browsers and devices.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9722763" y="3013115"/>
            <a:ext cx="4076938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Testing Methods: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9722763" y="3419237"/>
            <a:ext cx="4076938" cy="590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Use </a:t>
            </a:r>
            <a:r>
              <a:rPr lang="en-US" sz="14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Chrome DevTools</a:t>
            </a: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to preview layouts for phones, tablets, and desktops.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9722763" y="4074557"/>
            <a:ext cx="4076938" cy="590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Test on </a:t>
            </a:r>
            <a:r>
              <a:rPr lang="en-US" sz="14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real devices</a:t>
            </a: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(Android and iOS phones, tablets, and laptops).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9722763" y="4729877"/>
            <a:ext cx="4076938" cy="886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Use online tools like </a:t>
            </a:r>
            <a:r>
              <a:rPr lang="en-US" sz="14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BrowserStack</a:t>
            </a: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, </a:t>
            </a:r>
            <a:r>
              <a:rPr lang="en-US" sz="14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Responsinator</a:t>
            </a: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, or </a:t>
            </a:r>
            <a:r>
              <a:rPr lang="en-US" sz="14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LambdaTest</a:t>
            </a: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for cross-platform testing.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9722763" y="5726787"/>
            <a:ext cx="4076938" cy="886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Outcome:</a:t>
            </a: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Identifies layout breaks, inconsistent font rendering, or alignment issues early in development.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4242" y="794603"/>
            <a:ext cx="3756184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🔹</a:t>
            </a:r>
            <a:r>
              <a:rPr lang="en-US" sz="16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6</a:t>
            </a:r>
            <a:r>
              <a:rPr lang="en-US" sz="24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. Performance Optimization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4242" y="1097875"/>
            <a:ext cx="1342191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Responsiveness is not just about layout; it’s also about performance. A slow or heavy page affects user experience on mobile devices.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4242" y="1723668"/>
            <a:ext cx="650033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Improvements: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4242" y="2155269"/>
            <a:ext cx="650033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Minify </a:t>
            </a:r>
            <a:r>
              <a:rPr lang="en-US" sz="13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CSS, JavaScript, and HTML</a:t>
            </a: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files to reduce file size.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4242" y="2491859"/>
            <a:ext cx="650033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Use </a:t>
            </a:r>
            <a:r>
              <a:rPr lang="en-US" sz="13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Content Delivery Networks (CDNs)</a:t>
            </a: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to serve assets faster.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4242" y="2828449"/>
            <a:ext cx="650033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Enable </a:t>
            </a:r>
            <a:r>
              <a:rPr lang="en-US" sz="13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browser caching</a:t>
            </a: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and </a:t>
            </a:r>
            <a:r>
              <a:rPr lang="en-US" sz="13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gzip compression</a:t>
            </a: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4242" y="3165038"/>
            <a:ext cx="650033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Use </a:t>
            </a:r>
            <a:r>
              <a:rPr lang="en-US" sz="13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responsive typography</a:t>
            </a: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that scales efficiently without loading extra stylesheets.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4242" y="3872865"/>
            <a:ext cx="650033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Outcome:</a:t>
            </a: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Smooth and fast performance across all screen sizes and internet speeds.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33442" y="1740932"/>
            <a:ext cx="5424964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🔹</a:t>
            </a:r>
            <a:r>
              <a:rPr lang="en-US" sz="16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7. Continuous Monitoring and Maintenance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533442" y="2190988"/>
            <a:ext cx="650033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Even after implementation, responsiveness must be maintained as new devices and browsers are released.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33442" y="2898815"/>
            <a:ext cx="650033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Steps: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533442" y="3330416"/>
            <a:ext cx="650033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Regularly test after updates or content changes.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533442" y="3667006"/>
            <a:ext cx="650033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Collect user feedback on mobile and tablet experience.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533442" y="4003596"/>
            <a:ext cx="650033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Track performance metrics (bounce rate, session duration) via </a:t>
            </a:r>
            <a:r>
              <a:rPr lang="en-US" sz="13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Google Analytics</a:t>
            </a: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533442" y="4340185"/>
            <a:ext cx="650033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Make iterative improvements based on analytics and feedback.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533442" y="4771787"/>
            <a:ext cx="650033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Outcome:</a:t>
            </a: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The website remains user-friendly, modern, and adaptable over time.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4242" y="5483842"/>
            <a:ext cx="13421916" cy="29170"/>
          </a:xfrm>
          <a:prstGeom prst="rect">
            <a:avLst/>
          </a:prstGeom>
          <a:solidFill>
            <a:srgbClr val="3B4E4E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04242" y="5771912"/>
            <a:ext cx="4024670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✅</a:t>
            </a:r>
            <a:r>
              <a:rPr lang="en-US" sz="16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Summary of Expected Benefits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604242" y="6308288"/>
            <a:ext cx="6624637" cy="636746"/>
          </a:xfrm>
          <a:prstGeom prst="roundRect">
            <a:avLst>
              <a:gd name="adj" fmla="val 11388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84503" y="6488549"/>
            <a:ext cx="626411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Consistent and optimized experience across all devices.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401520" y="6308288"/>
            <a:ext cx="6624637" cy="636746"/>
          </a:xfrm>
          <a:prstGeom prst="roundRect">
            <a:avLst>
              <a:gd name="adj" fmla="val 11388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581781" y="6488549"/>
            <a:ext cx="626411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Improved user satisfaction and engagement.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04242" y="7117675"/>
            <a:ext cx="6624637" cy="636746"/>
          </a:xfrm>
          <a:prstGeom prst="roundRect">
            <a:avLst>
              <a:gd name="adj" fmla="val 11388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84503" y="7297936"/>
            <a:ext cx="626411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Higher SEO ranking due to mobile-friendliness.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401520" y="7117675"/>
            <a:ext cx="6624637" cy="636746"/>
          </a:xfrm>
          <a:prstGeom prst="roundRect">
            <a:avLst>
              <a:gd name="adj" fmla="val 11388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581781" y="7297936"/>
            <a:ext cx="626411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Reduced bounce rate and increased conversion.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02208" y="117336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Objectives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25063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78860" y="229314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2293144"/>
            <a:ext cx="1056036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 make the website layout adaptable to all screen sizes.</a:t>
            </a:r>
            <a:endParaRPr lang="en-US" sz="2650" dirty="0"/>
          </a:p>
        </p:txBody>
      </p:sp>
      <p:sp>
        <p:nvSpPr>
          <p:cNvPr id="6" name="Shape 4"/>
          <p:cNvSpPr/>
          <p:nvPr/>
        </p:nvSpPr>
        <p:spPr>
          <a:xfrm>
            <a:off x="793790" y="321456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8860" y="325707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1530906" y="3257074"/>
            <a:ext cx="12305705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 improve user experience and accessibility on mobile and tablet devices.</a:t>
            </a:r>
            <a:endParaRPr lang="en-US" sz="2650" dirty="0"/>
          </a:p>
        </p:txBody>
      </p:sp>
      <p:sp>
        <p:nvSpPr>
          <p:cNvPr id="9" name="Shape 7"/>
          <p:cNvSpPr/>
          <p:nvPr/>
        </p:nvSpPr>
        <p:spPr>
          <a:xfrm>
            <a:off x="793790" y="45612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78860" y="460379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1530906" y="4603790"/>
            <a:ext cx="1172944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 ensure consistent design and functionality across platforms.</a:t>
            </a:r>
            <a:endParaRPr lang="en-US" sz="2650" dirty="0"/>
          </a:p>
        </p:txBody>
      </p:sp>
      <p:sp>
        <p:nvSpPr>
          <p:cNvPr id="12" name="Shape 10"/>
          <p:cNvSpPr/>
          <p:nvPr/>
        </p:nvSpPr>
        <p:spPr>
          <a:xfrm>
            <a:off x="793790" y="552521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78860" y="556772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530906" y="5567720"/>
            <a:ext cx="1014257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 increase user engagement and reduce bounce rate.</a:t>
            </a:r>
            <a:endParaRPr lang="en-US" sz="2650" dirty="0"/>
          </a:p>
        </p:txBody>
      </p:sp>
      <p:sp>
        <p:nvSpPr>
          <p:cNvPr id="15" name="Shape 13"/>
          <p:cNvSpPr/>
          <p:nvPr/>
        </p:nvSpPr>
        <p:spPr>
          <a:xfrm>
            <a:off x="793790" y="648914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78860" y="653165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5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1530906" y="6531650"/>
            <a:ext cx="1021199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 follow modern web standards for responsive design.</a:t>
            </a:r>
            <a:endParaRPr lang="en-US" sz="2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72372" y="274555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References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374915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Marcotte, Ethan</a:t>
            </a: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. </a:t>
            </a:r>
            <a:r>
              <a:rPr lang="en-US" sz="1750" i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Responsive Web Design.</a:t>
            </a: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A List Apart. </a:t>
            </a:r>
            <a:r>
              <a:rPr lang="en-US" sz="1750" u="sng" dirty="0">
                <a:solidFill>
                  <a:srgbClr val="224435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https://alistapart.com/article/responsive-web-design/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19135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World Wide Web Consortium (W3C).</a:t>
            </a: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 </a:t>
            </a:r>
            <a:r>
              <a:rPr lang="en-US" sz="1750" i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Media Queries Level 5.</a:t>
            </a: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</a:t>
            </a:r>
            <a:r>
              <a:rPr lang="en-US" sz="1750" u="sng" dirty="0">
                <a:solidFill>
                  <a:srgbClr val="224435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https://www.w3.org/TR/mediaqueries-5/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3355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Google Developers</a:t>
            </a:r>
            <a:r>
              <a:rPr lang="en-US" sz="1750" b="1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.</a:t>
            </a:r>
            <a:r>
              <a:rPr lang="en-US" sz="175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 </a:t>
            </a:r>
            <a:r>
              <a:rPr lang="en-US" sz="1750" i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Responsive Web Design Basics.</a:t>
            </a: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https://developers.google.com/web/fundamentals/design-and-ux/responsive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67026" y="3397708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Thank you</a:t>
            </a:r>
            <a:endParaRPr lang="en-US" sz="89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173</TotalTime>
  <Words>1297</Words>
  <Application>Microsoft Office PowerPoint</Application>
  <PresentationFormat>Custom</PresentationFormat>
  <Paragraphs>120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Garamond</vt:lpstr>
      <vt:lpstr>Consolas</vt:lpstr>
      <vt:lpstr>Arial</vt:lpstr>
      <vt:lpstr>Syne Bold</vt:lpstr>
      <vt:lpstr>Overpass Light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Hardik Garg</dc:creator>
  <cp:lastModifiedBy>Rishita Jain</cp:lastModifiedBy>
  <cp:revision>2</cp:revision>
  <dcterms:created xsi:type="dcterms:W3CDTF">2025-10-13T07:14:57Z</dcterms:created>
  <dcterms:modified xsi:type="dcterms:W3CDTF">2026-02-19T09:18:53Z</dcterms:modified>
</cp:coreProperties>
</file>